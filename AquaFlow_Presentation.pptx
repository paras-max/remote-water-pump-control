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1A4D">
              <a:alpha val="60000"/>
            </a:srgbClr>
          </a:solidFill>
          <a:ln w="12700">
            <a:solidFill>
              <a:srgbClr val="001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001F2B">
              <a:alpha val="60000"/>
            </a:srgbClr>
          </a:solidFill>
          <a:ln w="12700">
            <a:solidFill>
              <a:srgbClr val="001F2B"/>
            </a:solidFill>
            <a:prstDash val="solid"/>
          </a:ln>
        </p:spPr>
      </p:sp>
      <p:pic>
        <p:nvPicPr>
          <p:cNvPr id="4" name="Image 0" descr="C:/Users/PARAS/.gemini/antigravity-ide/brain/734939fc-69ce-409e-a284-c17363b0e2ec/water_system_hero_179109001359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20040"/>
            <a:ext cx="57607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1188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Village Water Management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Three-Phase IoT + AI Solution for Agricultural Irrigation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3291840" cy="34747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92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— Remote Pump Control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4892040"/>
            <a:ext cx="3291840" cy="34747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4892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— Smart Valve System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138160" y="4892040"/>
            <a:ext cx="3291840" cy="347472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892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— AI-Driven Irrigation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0" y="6492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Project Proposal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4003D">
              <a:alpha val="60000"/>
            </a:srgbClr>
          </a:solidFill>
          <a:ln w="12700">
            <a:solidFill>
              <a:srgbClr val="140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PROBLEM STATEMENT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Irrigation Challenge in Rural Villages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agricultural water systems are inefficient, uncontrolled, and wasteful — costing farmers time, money, and water.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74904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🚶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Presence Required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7063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Farmers must travel to wells to manually start/stop pumps — often at odd hours.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691640"/>
            <a:ext cx="374904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87452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34840" y="244144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Wastage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77063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is over-supplied to fields regardless of crop type or actual requirement.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74904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87452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244144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Power Consumption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77063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Motors run longer than necessary, driving up electricity costs.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74904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14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Individual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01091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farmers share the same flow — one farmer's need affects all others.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3931920"/>
            <a:ext cx="374904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4114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34840" y="468172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Crop-Blind Irrigation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501091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system accounts for different crop water needs across field types.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3931920"/>
            <a:ext cx="374904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11480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📵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66760" y="468172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Remote Access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501091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digital monitoring of pump status, runtime, or fault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2020">
              <a:alpha val="60000"/>
            </a:srgbClr>
          </a:solidFill>
          <a:ln w="12700">
            <a:solidFill>
              <a:srgbClr val="0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PROJECT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Implementation 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structured, scalable approach — each phase builds on the previous, delivering increasing value.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1691640"/>
            <a:ext cx="777240" cy="777240"/>
          </a:xfrm>
          <a:prstGeom prst="ellipse">
            <a:avLst/>
          </a:prstGeom>
          <a:solidFill>
            <a:srgbClr val="050D1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709928"/>
            <a:ext cx="777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2084832"/>
            <a:ext cx="1828800" cy="0"/>
          </a:xfrm>
          <a:prstGeom prst="line">
            <a:avLst/>
          </a:prstGeom>
          <a:noFill/>
          <a:ln w="12700">
            <a:solidFill>
              <a:srgbClr val="7F8F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3657600" cy="24231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889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Pump Control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IoT-enabled 4G remote control of two well motors. Real-time status, emergency shutdown, and current sensing.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691640"/>
            <a:ext cx="777240" cy="777240"/>
          </a:xfrm>
          <a:prstGeom prst="ellipse">
            <a:avLst/>
          </a:prstGeom>
          <a:solidFill>
            <a:srgbClr val="050D1F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709928"/>
            <a:ext cx="777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83680" y="2084832"/>
            <a:ext cx="1828800" cy="0"/>
          </a:xfrm>
          <a:prstGeom prst="line">
            <a:avLst/>
          </a:prstGeom>
          <a:noFill/>
          <a:ln w="12700">
            <a:solidFill>
              <a:srgbClr val="7F8F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651760"/>
            <a:ext cx="3657600" cy="24231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7889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Valve Distribution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1546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 solenoid valves on each farmer's branch pipe. Per-farmer individual water control via app.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38360" y="1691640"/>
            <a:ext cx="777240" cy="777240"/>
          </a:xfrm>
          <a:prstGeom prst="ellipse">
            <a:avLst/>
          </a:prstGeom>
          <a:solidFill>
            <a:srgbClr val="050D1F"/>
          </a:solidFill>
          <a:ln w="25400">
            <a:solidFill>
              <a:srgbClr val="FFD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709928"/>
            <a:ext cx="777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21040" y="2651760"/>
            <a:ext cx="3657600" cy="24231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27889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Precision Irrigation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58200" y="31546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Crop-aware AI formula computes exact water volume per acre. Automated irrigation — zero waste, max yield.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303520"/>
            <a:ext cx="11430000" cy="11887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F8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376672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F8FA6"/>
                </a:solidFill>
              </a:rPr>
              <a:t>SYSTEM ARCHITECTURE FLOW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2960" y="5577840"/>
            <a:ext cx="1920240" cy="43891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59612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Mobile 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58795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Farmer/Admin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5687568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108960" y="5577840"/>
            <a:ext cx="1920240" cy="43891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1A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559612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Firebase Cloud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58795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DB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5687568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394960" y="5577840"/>
            <a:ext cx="1920240" cy="43891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559612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4G Network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94960" y="58795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Jio Dongle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0" y="5687568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680960" y="5577840"/>
            <a:ext cx="1920240" cy="43891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559612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ESP8266/ESP32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80960" y="58795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Controller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01200" y="5687568"/>
            <a:ext cx="365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966960" y="5577840"/>
            <a:ext cx="1920240" cy="43891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66960" y="559612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Motor + Valves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966960" y="58795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Hardware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1540">
              <a:alpha val="60000"/>
            </a:srgbClr>
          </a:solidFill>
          <a:ln w="12700">
            <a:solidFill>
              <a:srgbClr val="001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320040"/>
            <a:ext cx="0" cy="6217920"/>
          </a:xfrm>
          <a:prstGeom prst="line">
            <a:avLst/>
          </a:prstGeom>
          <a:noFill/>
          <a:ln w="6350">
            <a:solidFill>
              <a:srgbClr val="7F8FA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PHASE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Pump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wells in the village, each fitted with an electric motor pump. Farmers start and stop motors remotely via our web app — from anywhere, via 4G.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🪣  2 Village Wells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with a dedicated submersible motor distributing water through the main pipe.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Remote ON/OFF Control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motors via web/mobile app over 4G — no physical presence at the well.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Real-Time Runtime Monitor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HH:MM:SS stopwatch tracks exactly how long each motor is running.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34340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 Emergency Shutdown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9028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emergency OFF immediately de-energises the motor contactor.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07492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ACS712 Current Sensing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Detects dry-run faults and hardware failures automatically.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580644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 Session History &amp; Export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05332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pump cycle logged with start/end time, duration, and average current.</a:t>
            </a:r>
            <a:endParaRPr lang="en-US" sz="1000" dirty="0"/>
          </a:p>
        </p:txBody>
      </p:sp>
      <p:pic>
        <p:nvPicPr>
          <p:cNvPr id="20" name="Image 0" descr="C:/Users/PARAS/.gemini/antigravity-ide/brain/734939fc-69ce-409e-a284-c17363b0e2ec/phase1_pump_control_17910900303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20040"/>
            <a:ext cx="5577840" cy="32918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309360" y="3749040"/>
            <a:ext cx="1737360" cy="9601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3794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6309360" y="4389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Wells Covered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92440" y="3749040"/>
            <a:ext cx="1737360" cy="9601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92440" y="3794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4G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8092440" y="4389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Access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875520" y="3749040"/>
            <a:ext cx="1737360" cy="9601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0" y="379476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9875520" y="4389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309360" y="4892040"/>
            <a:ext cx="5577840" cy="169164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F8F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498348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8FA6"/>
                </a:solidFill>
              </a:rPr>
              <a:t>KEY HARDWARE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400800" y="525780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NodeMCU ESP8266  ·  5V Relay Module  ·  AC Contactor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00800" y="562356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ACS712 Current Sensor  ·  Jio 4G Dongle  ·  Firebase RTDB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PHASE 1 — 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Industrial-grade components, cloud-native architecture, zero compromise on reliability.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0195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NodeMCU ESP8266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edge controller. Controls relay, reads ACS712, syncs Firebase every 10s.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0195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39572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5V Relay + AC Contactor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Optocoupled relay drives AC contactor to switch motor safely at mains voltage.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0195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39572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ACS712 Sensor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Hall-effect current sensor. Detects dry-run and hardware faults automatically.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81160" y="173736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90195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72600" y="239572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Jio 4G Dongle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72600" y="274320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Cellular internet hotspot providing reliable connectivity in remote rural areas.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5079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454456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RTDB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Realtime DB. Command queue &amp; heartbeat with &lt;200ms latency.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37560" y="388620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05079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⚛️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429000" y="454456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8920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Mobile-responsive dashboard with live telemetry, stopwatch &amp; session history.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88620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405079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400800" y="454456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Deployment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48920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CDN. Accessible from any phone browser — just a URL, no install.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281160" y="3886200"/>
            <a:ext cx="2788920" cy="20116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4050792"/>
            <a:ext cx="2788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372600" y="4544568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72600" y="4892040"/>
            <a:ext cx="2606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Email/password auth ensures only authorised operators can control pumps.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5989320"/>
            <a:ext cx="11430000" cy="658368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F8F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181344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 (Vercel)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88920" y="6181344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⇄  Firebase RTDB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74920" y="6181344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⇄  4G Hotspot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60920" y="6181344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⇄  ESP8266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646920" y="6181344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Relay → Motor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2010">
              <a:alpha val="60000"/>
            </a:srgbClr>
          </a:solidFill>
          <a:ln w="12700">
            <a:solidFill>
              <a:srgbClr val="0020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320040"/>
            <a:ext cx="0" cy="6217920"/>
          </a:xfrm>
          <a:prstGeom prst="line">
            <a:avLst/>
          </a:prstGeom>
          <a:noFill/>
          <a:ln w="6350">
            <a:solidFill>
              <a:srgbClr val="7F8FA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🚰  PHASE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Electronic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Valve Distribution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motor sends water through the main pipe, it branches into individual pipes for each farmer's field. Each branch has an electronic solenoid valve.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🔀  Branched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supply splits into N individual farmer pipes, each independently controlled.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 Solenoid Valves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5584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 normally-closed valves. Fail-safe — no power means no flow.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88620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Per-Farmer App Toggle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3308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farmer doesn't need water, they switch OFF — others receive water normally.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 Fair Distribution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91032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valves redirect pressure to active pipes, improving flow for others.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44068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Individual Usage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687568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Valve history per farmer for accountability and water billing.</a:t>
            </a:r>
            <a:endParaRPr lang="en-US" sz="1000" dirty="0"/>
          </a:p>
        </p:txBody>
      </p:sp>
      <p:pic>
        <p:nvPicPr>
          <p:cNvPr id="18" name="Image 0" descr="C:/Users/PARAS/.gemini/antigravity-ide/brain/734939fc-69ce-409e-a284-c17363b0e2ec/phase2_electronic_valves_179109005888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20040"/>
            <a:ext cx="5577840" cy="32004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309360" y="3703320"/>
            <a:ext cx="5577840" cy="28803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79476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F8FA6"/>
                </a:solidFill>
              </a:rPr>
              <a:t>VALVE CONTROL PER FARMER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00800" y="4114800"/>
            <a:ext cx="5349240" cy="53035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4151376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👨‍🌾  Farmer A — Field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92240" y="438912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🌾 Rice Paddy · 2 Acres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058400" y="4206240"/>
            <a:ext cx="640080" cy="310896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0" y="420624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OPEN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400800" y="4736592"/>
            <a:ext cx="5349240" cy="53035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477316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👨‍🌾  Farmer B — Field 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92240" y="5010912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 Vegetables · 1.5 Acres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0058400" y="4828032"/>
            <a:ext cx="640080" cy="310896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58400" y="482803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OPEN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400800" y="5358384"/>
            <a:ext cx="5349240" cy="53035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539496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👨‍🌾  Farmer C — Field 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92240" y="5632704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🌽 Maize · 3 Acres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058400" y="5449824"/>
            <a:ext cx="640080" cy="310896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0" y="544982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OPEN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400800" y="5980176"/>
            <a:ext cx="5349240" cy="530352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0F1E3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6016752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👨‍🌾  Farmer D — Field 4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492240" y="6254496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🌾 Wheat · 2.5 Acres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0058400" y="6071616"/>
            <a:ext cx="640080" cy="310896"/>
          </a:xfrm>
          <a:prstGeom prst="roundRect">
            <a:avLst/>
          </a:prstGeom>
          <a:solidFill>
            <a:srgbClr val="050D1F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58400" y="607161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CLOSED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B1A00">
              <a:alpha val="60000"/>
            </a:srgbClr>
          </a:solidFill>
          <a:ln w="12700">
            <a:solidFill>
              <a:srgbClr val="2B1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320040"/>
            <a:ext cx="0" cy="6217920"/>
          </a:xfrm>
          <a:prstGeom prst="line">
            <a:avLst/>
          </a:prstGeom>
          <a:noFill/>
          <a:ln w="6350">
            <a:solidFill>
              <a:srgbClr val="7F8FA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PHASE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Precision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Irrigation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crop type has a defined water requirement per acre. Our AI engine calculates the exact volume needed and delivers precisely that amount.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5577840" cy="24231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76272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 AI FORMULA LOGIC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Farmer inputs crop type and field size (acres) via the app.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AI engine references crop-specific water consumption table (L/acre/day).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19856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Calculates required valve open-duration based on measured flow rate.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58768"/>
            <a:ext cx="5349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Valve auto-closes exactly when the required water volume is delivered.</a:t>
            </a:r>
            <a:endParaRPr lang="en-US" sz="1050" dirty="0"/>
          </a:p>
        </p:txBody>
      </p:sp>
      <p:pic>
        <p:nvPicPr>
          <p:cNvPr id="14" name="Image 0" descr="C:/Users/PARAS/.gemini/antigravity-ide/brain/734939fc-69ce-409e-a284-c17363b0e2ec/phase3_ai_irrigation_17910900731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20040"/>
            <a:ext cx="557784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309360" y="3703320"/>
            <a:ext cx="5577840" cy="292608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3794760"/>
            <a:ext cx="5577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7F8FA6"/>
                </a:solidFill>
              </a:rPr>
              <a:t>CROP WATER REQUIREMENT TABLE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400800" y="404164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404164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 / Acre / Day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241280" y="4041648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0" y="4242816"/>
            <a:ext cx="5349240" cy="0"/>
          </a:xfrm>
          <a:prstGeom prst="line">
            <a:avLst/>
          </a:prstGeom>
          <a:noFill/>
          <a:ln w="6350">
            <a:solidFill>
              <a:srgbClr val="7F8FA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4334256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🌾 Rice Paddy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321040" y="4334256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1,800 – 2,400 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241280" y="4416552"/>
            <a:ext cx="1234440" cy="1828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241280" y="4416552"/>
            <a:ext cx="1172718" cy="1828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477316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🎋 Sugarcane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321040" y="4773168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1,500 – 2,000 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241280" y="4855464"/>
            <a:ext cx="1234440" cy="1828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241280" y="4855464"/>
            <a:ext cx="987552" cy="1828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0" y="52120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🌾 Wheat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321040" y="521208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600 – 900 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241280" y="5294376"/>
            <a:ext cx="1234440" cy="1828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41280" y="5294376"/>
            <a:ext cx="432054" cy="1828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0" y="56509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🌽 Maize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321040" y="5650992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 – 800 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241280" y="5733288"/>
            <a:ext cx="1234440" cy="1828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41280" y="5733288"/>
            <a:ext cx="370332" cy="1828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0" y="6089904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🥦 Vegetables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321040" y="6089904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 – 700 L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241280" y="6172200"/>
            <a:ext cx="1234440" cy="182880"/>
          </a:xfrm>
          <a:prstGeom prst="round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41280" y="6172200"/>
            <a:ext cx="308610" cy="182880"/>
          </a:xfrm>
          <a:prstGeom prst="round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1828800"/>
            <a:ext cx="6400800" cy="6400800"/>
          </a:xfrm>
          <a:prstGeom prst="ellipse">
            <a:avLst/>
          </a:prstGeom>
          <a:solidFill>
            <a:srgbClr val="002020">
              <a:alpha val="60000"/>
            </a:srgbClr>
          </a:solidFill>
          <a:ln w="12700">
            <a:solidFill>
              <a:srgbClr val="00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EXPECTED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Project Matters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1430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Measurable, real-world benefits for the village community, farmers, and the environment.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70332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01368"/>
            <a:ext cx="3703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💧 Water Savings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90088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AI eliminates over-watering, saving up to 40% vs. traditional flood irrigation.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370332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801368"/>
            <a:ext cx="3703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343400" y="2651760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Remote Access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2990088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Farmers control pumps and valves from home — no travel to the well required.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70332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801368"/>
            <a:ext cx="3703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229600" y="2651760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Power Reduction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2990088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Motors run only as needed. AI shutoff reduces electricity bills significantly.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370332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78808"/>
            <a:ext cx="3703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🧑‍🌾 Farmers Empowered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367528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farmer has independent real-time control — no more water conflicts or disputes.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4069080"/>
            <a:ext cx="370332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4178808"/>
            <a:ext cx="3703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343400" y="5029200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Uptime Monitoring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5367528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10-second heartbeat, fault detection, and session logging round the clock.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4069080"/>
            <a:ext cx="370332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38160" y="4178808"/>
            <a:ext cx="3703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229600" y="5029200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Manual Trips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0" y="5367528"/>
            <a:ext cx="3520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shutdown, dry-run detection, and fault alerts eliminate site visits.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1540">
              <a:alpha val="60000"/>
            </a:srgbClr>
          </a:solidFill>
          <a:ln w="12700">
            <a:solidFill>
              <a:srgbClr val="001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001F2B">
              <a:alpha val="60000"/>
            </a:srgbClr>
          </a:solidFill>
          <a:ln w="12700">
            <a:solidFill>
              <a:srgbClr val="001F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"/>
            <a:ext cx="3200400" cy="27432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320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PROJECT PROPOSAL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AquaFlow —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Village Agriculture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phased, low-risk, high-impact IoT + AI solution that brings digital transformation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agricultural water management in rural India.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365760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Phase 1 — Ready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163824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Hardware, firmware, and web app are already built and tested. Deployable immediately upon approval.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2633472"/>
            <a:ext cx="365760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77063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🚰 Phase 2 — 3 Months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163824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Solenoid valve procurement, installation, and integration with Phase 1. Minimal extra infrastructure.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2633472"/>
            <a:ext cx="3657600" cy="2194560"/>
          </a:xfrm>
          <a:prstGeom prst="roundRect">
            <a:avLst/>
          </a:prstGeom>
          <a:solidFill>
            <a:srgbClr val="0F1E38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770632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Phase 3 — 6 Months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3163824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 training with local crop data, flow sensor integration, and automated scheduling rollout.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5074920"/>
            <a:ext cx="4297680" cy="621792"/>
          </a:xfrm>
          <a:prstGeom prst="roundRect">
            <a:avLst/>
          </a:prstGeom>
          <a:solidFill>
            <a:srgbClr val="1A8CFF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5074920"/>
            <a:ext cx="4297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💧  Approve the Project  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199632"/>
            <a:ext cx="112471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F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AquaFlow 4G  ·  Firebase  ·  ESP8266/ESP32  ·  React  ·  AI Irrigation Engine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AquaFlow — Smart Village Water Management System</dc:title>
  <dc:subject>Project Proposal 2026</dc:subject>
  <dc:creator>AquaFlow Team</dc:creator>
  <cp:lastModifiedBy>AquaFlow Team</cp:lastModifiedBy>
  <cp:revision>1</cp:revision>
  <dcterms:created xsi:type="dcterms:W3CDTF">2026-10-04T05:15:36Z</dcterms:created>
  <dcterms:modified xsi:type="dcterms:W3CDTF">2026-10-04T05:15:36Z</dcterms:modified>
</cp:coreProperties>
</file>